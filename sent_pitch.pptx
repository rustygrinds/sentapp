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D20905-0F42-4EF6-8A4D-3C4DF8B95128}" v="3" dt="2026-03-24T17:04:09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42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35040" y="274320"/>
            <a:ext cx="2926080" cy="292608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36208" y="475488"/>
            <a:ext cx="2523744" cy="2523744"/>
          </a:xfrm>
          <a:prstGeom prst="rect">
            <a:avLst/>
          </a:prstGeom>
          <a:solidFill>
            <a:srgbClr val="1A1410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52744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45352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37960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30568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23176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15784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08392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01000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93608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86216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878824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52744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45352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37960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30568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23176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15784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08392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01000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93608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86216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878824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52744" y="44805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52744" y="70408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52744" y="96012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52744" y="121615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52744" y="147218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52744" y="172821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52744" y="198424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52744" y="224028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52744" y="249631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52744" y="275234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878824" y="44805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anose="020F0502020204030204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878824" y="70408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878824" y="96012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878824" y="121615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878824" y="147218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878824" y="172821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878824" y="198424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878824" y="224028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878824" y="249631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878824" y="275234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72784" y="1325880"/>
            <a:ext cx="2450592" cy="0"/>
          </a:xfrm>
          <a:prstGeom prst="line">
            <a:avLst/>
          </a:prstGeom>
          <a:noFill/>
          <a:ln w="57150">
            <a:solidFill>
              <a:srgbClr val="C8832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272784" y="1572768"/>
            <a:ext cx="2450592" cy="0"/>
          </a:xfrm>
          <a:prstGeom prst="line">
            <a:avLst/>
          </a:prstGeom>
          <a:noFill/>
          <a:ln w="44450">
            <a:solidFill>
              <a:srgbClr val="C883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272784" y="1819656"/>
            <a:ext cx="2450592" cy="0"/>
          </a:xfrm>
          <a:prstGeom prst="line">
            <a:avLst/>
          </a:prstGeom>
          <a:noFill/>
          <a:ln w="35560">
            <a:solidFill>
              <a:srgbClr val="C8832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72784" y="2066544"/>
            <a:ext cx="2450592" cy="0"/>
          </a:xfrm>
          <a:prstGeom prst="line">
            <a:avLst/>
          </a:prstGeom>
          <a:noFill/>
          <a:ln w="22860">
            <a:solidFill>
              <a:srgbClr val="C8832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272784" y="2313432"/>
            <a:ext cx="2450592" cy="0"/>
          </a:xfrm>
          <a:prstGeom prst="line">
            <a:avLst/>
          </a:prstGeom>
          <a:noFill/>
          <a:ln w="12700">
            <a:solidFill>
              <a:srgbClr val="C8832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035040" y="274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i="1" dirty="0">
                <a:solidFill>
                  <a:srgbClr val="C8832A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US" sz="20000" dirty="0">
              <a:latin typeface="DM Serif Display" pitchFamily="2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1A1410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US" sz="2600" dirty="0">
              <a:latin typeface="DM Serif Display" pitchFamily="2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69848" y="457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ent</a:t>
            </a:r>
            <a:endParaRPr lang="en-US" sz="2200" dirty="0">
              <a:latin typeface="DM Serif Display" pitchFamily="2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48640" y="1371600"/>
            <a:ext cx="5486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Relationships,</a:t>
            </a:r>
            <a:endParaRPr lang="en-US" sz="5200" dirty="0">
              <a:latin typeface="DM Serif Display" pitchFamily="2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remembered.</a:t>
            </a:r>
            <a:endParaRPr lang="en-US" sz="5200" dirty="0">
              <a:latin typeface="DM Serif Display" pitchFamily="2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48640" y="36576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i="1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Sent.</a:t>
            </a:r>
            <a:endParaRPr lang="en-US" sz="5200" dirty="0">
              <a:latin typeface="DM Serif Display" pitchFamily="2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566160" y="36576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occasion intelligence for every relationship</a:t>
            </a:r>
            <a:endParaRPr lang="en-US" sz="13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Every moment is a chance</a:t>
            </a:r>
            <a:endParaRPr lang="en-US" sz="2400" dirty="0">
              <a:latin typeface="DM Serif Display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to show someone they matter.</a:t>
            </a:r>
            <a:endParaRPr lang="en-US" sz="24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2606040" cy="23317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DM Serif Display" pitchFamily="2" charset="0"/>
              </a:rPr>
              <a:t>😶</a:t>
            </a:r>
            <a:endParaRPr lang="en-US" sz="2800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messages</a:t>
            </a:r>
            <a:endParaRPr lang="en-US" sz="14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"Happy birthday! Hope it's great!" Sent by 47 people. Every occasion. Nobody feels seen.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37560" y="2331720"/>
            <a:ext cx="2606040" cy="23317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37560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DM Serif Display" pitchFamily="2" charset="0"/>
              </a:rPr>
              <a:t>⏰</a:t>
            </a:r>
            <a:endParaRPr lang="en-US" sz="2800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Missed entirely</a:t>
            </a:r>
            <a:endParaRPr lang="en-US" sz="14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3429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 gets busy. Important people slip through. The silence says more than words.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2331720"/>
            <a:ext cx="2606040" cy="23317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72200" y="24688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DM Serif Display" pitchFamily="2" charset="0"/>
              </a:rPr>
              <a:t>🕸️</a:t>
            </a:r>
            <a:endParaRPr lang="en-US" sz="2800" dirty="0">
              <a:latin typeface="DM Serif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data</a:t>
            </a:r>
            <a:endParaRPr lang="en-US" sz="1400" dirty="0">
              <a:latin typeface="DM Serif Display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9360" y="34290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 moments live across Facebook, LinkedIn, Google, iCloud. No single source of truth.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solidFill>
            <a:srgbClr val="FFF4E0"/>
          </a:solidFill>
          <a:ln w="6350">
            <a:solidFill>
              <a:srgbClr val="EDE5DB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Birthdays. Graduations. New babies. Promotions. Retirements. Every person you love has moments worth celebrating.</a:t>
            </a:r>
            <a:endParaRPr lang="en-US" sz="12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Every occasion, remembered.</a:t>
            </a:r>
            <a:endParaRPr lang="en-US" sz="3600" dirty="0">
              <a:latin typeface="DM Serif Display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Every message, personal.</a:t>
            </a:r>
            <a:endParaRPr lang="en-US" sz="36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92024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Aggregate</a:t>
            </a:r>
            <a:endParaRPr lang="en-US" sz="16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Pulls life occasions from every social network and calendar into one unified feed. Birthdays, milestones, and more.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06040" y="2331720"/>
            <a:ext cx="192024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88920" y="2450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88920" y="28163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Research</a:t>
            </a:r>
            <a:endParaRPr lang="en-US" sz="16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88920" y="32461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each occasion, Sent scans their recent activity to understand what's going on in their life right now.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0" y="2331720"/>
            <a:ext cx="192024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2040" y="2450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92040" y="28163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Generate</a:t>
            </a:r>
            <a:endParaRPr lang="en-US" sz="1600" dirty="0">
              <a:latin typeface="DM Serif Display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voice. Text, photo, GIF, meme, or video. Five personality archetypes. References their actual life.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12280" y="2331720"/>
            <a:ext cx="192024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95160" y="245059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28163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Deliver</a:t>
            </a:r>
            <a:endParaRPr lang="en-US" sz="1600" dirty="0">
              <a:latin typeface="DM Serif Display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95160" y="324612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Sends it on time, through the right channel — text, email, LinkedIn, Instagram — while you sleep.</a:t>
            </a:r>
            <a:endParaRPr lang="en-US" sz="11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MAGIC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The gap between caring</a:t>
            </a:r>
            <a:endParaRPr lang="en-US" sz="2400" dirty="0">
              <a:latin typeface="DM Serif Display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and showing up — closed.</a:t>
            </a:r>
            <a:endParaRPr lang="en-US" sz="24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931920" cy="251460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SENT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5B8AC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"Happy birthday! Hope your day is as special as you are! 🎂"</a:t>
            </a:r>
            <a:endParaRPr lang="en-US" sz="14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 by 52 other people. Word for word.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26280" y="32004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8832A"/>
                </a:solidFill>
                <a:latin typeface="DM Serif Display" pitchFamily="2" charset="0"/>
              </a:rPr>
              <a:t>→</a:t>
            </a:r>
            <a:endParaRPr lang="en-US" sz="2200" dirty="0">
              <a:latin typeface="DM Serif Display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74920" y="2286000"/>
            <a:ext cx="3749040" cy="2514600"/>
          </a:xfrm>
          <a:prstGeom prst="rect">
            <a:avLst/>
          </a:prstGeom>
          <a:solidFill>
            <a:srgbClr val="2A1F0E"/>
          </a:solidFill>
          <a:ln w="12700">
            <a:solidFill>
              <a:srgbClr val="C8832A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08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SENT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12080" y="27889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"Marcus! Dude, happy birthday — hope you're celebrating in Austin now that the move is done. And give Biscuit a birthday scratch from me 🐶"</a:t>
            </a:r>
            <a:endParaRPr lang="en-US" sz="1300" dirty="0">
              <a:latin typeface="DM Serif Display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12080" y="4251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Sounds like you. Feels like you remembered.</a:t>
            </a:r>
            <a:endParaRPr lang="en-US" sz="11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Every person has occasions.</a:t>
            </a:r>
            <a:endParaRPr lang="en-US" sz="3000" dirty="0">
              <a:latin typeface="DM Serif Display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Every occasion is a chance to connect.</a:t>
            </a:r>
            <a:endParaRPr lang="en-US" sz="30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651760" cy="265176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$28B</a:t>
            </a:r>
            <a:endParaRPr lang="en-US" sz="46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Occasion-driven gifting, messaging + relationship mgmt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651760" cy="265176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661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$4.2B</a:t>
            </a:r>
            <a:endParaRPr lang="en-US" sz="46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Consumers who use 3+ social platforms and pay for productivity tools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2651760" cy="265176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$380M</a:t>
            </a:r>
            <a:endParaRPr lang="en-US" sz="4600" dirty="0">
              <a:latin typeface="DM Serif Display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46520" y="3474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 target: premium subscribers in US + UK</a:t>
            </a:r>
            <a:endParaRPr lang="en-US" sz="11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Simple freemium.</a:t>
            </a:r>
            <a:endParaRPr lang="en-US" sz="3200" dirty="0">
              <a:latin typeface="DM Serif Display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Powerful at scale.</a:t>
            </a:r>
            <a:endParaRPr lang="en-US" sz="32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06040" cy="297180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Free</a:t>
            </a:r>
            <a:endParaRPr lang="en-US" sz="1500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2487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832A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$0</a:t>
            </a:r>
            <a:endParaRPr lang="en-US" sz="24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999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3 messages/month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328269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Photos: up to 3 per msg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1 GIF or meme per msg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8496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Video: up to 15 seconds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41330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Sent Gift: up to $25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37560" y="1965960"/>
            <a:ext cx="2606040" cy="2971800"/>
          </a:xfrm>
          <a:prstGeom prst="rect">
            <a:avLst/>
          </a:prstGeom>
          <a:solidFill>
            <a:srgbClr val="1A1410"/>
          </a:solidFill>
          <a:ln w="19050">
            <a:solidFill>
              <a:srgbClr val="C883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37560" y="1965960"/>
            <a:ext cx="2606040" cy="32004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A14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POPULAR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20440" y="23774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Sent+</a:t>
            </a:r>
            <a:endParaRPr lang="en-US" sz="1500" dirty="0">
              <a:latin typeface="DM Serif Display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20440" y="27614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$4.99/mo</a:t>
            </a:r>
            <a:endParaRPr lang="en-US" sz="2400" dirty="0">
              <a:latin typeface="DM Serif Display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20440" y="32735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Unlimited messages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20440" y="355701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Photos: up to 10 per msg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20440" y="38404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Unlimited GIFs + AI picks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520440" y="41239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Video: up to 60 seconds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20440" y="44074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Digital postcard builder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520440" y="469087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Sent Gift: up to $100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72200" y="1965960"/>
            <a:ext cx="2606040" cy="297180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Sent Pro</a:t>
            </a:r>
            <a:endParaRPr lang="en-US" sz="1500" dirty="0">
              <a:latin typeface="DM Serif Display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55080" y="2487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832A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$12.99/mo</a:t>
            </a:r>
            <a:endParaRPr lang="en-US" sz="2400" dirty="0">
              <a:latin typeface="DM Serif Display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55080" y="2999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Everything in Sent+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55080" y="328269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Voice notes (AI-scripted)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55080" y="35661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Sent Gift: up to $500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55080" y="38496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Analytics dashboard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55080" y="41330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CRM sync (Salesforce)</a:t>
            </a:r>
            <a:endParaRPr lang="en-US" sz="11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MOAT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Six defensible moats.</a:t>
            </a:r>
            <a:endParaRPr lang="en-US" sz="3000" dirty="0">
              <a:latin typeface="DM Serif Display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Each one compounds.</a:t>
            </a:r>
            <a:endParaRPr lang="en-US" sz="30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2103120"/>
            <a:ext cx="2651760" cy="1115568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DM Serif Display" pitchFamily="2" charset="0"/>
              </a:rPr>
              <a:t>🔄</a:t>
            </a:r>
            <a:endParaRPr lang="en-US" sz="1700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Data flywheel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message trained on real outcomes. Gets smarter with every send. Impossible to replicate.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2103120"/>
            <a:ext cx="2651760" cy="1115568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DM Serif Display" pitchFamily="2" charset="0"/>
              </a:rPr>
              <a:t>🔗</a:t>
            </a:r>
            <a:endParaRPr lang="en-US" sz="1700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192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Network effect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31920" y="24688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both sides use Sent, shared context creates a closed loop no competitor can match.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2103120"/>
            <a:ext cx="2651760" cy="1115568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DM Serif Display" pitchFamily="2" charset="0"/>
              </a:rPr>
              <a:t>🎭</a:t>
            </a:r>
            <a:endParaRPr lang="en-US" sz="1700" dirty="0">
              <a:latin typeface="DM Serif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0" y="2167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Voice fingerprint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0" y="24688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 learns your actual writing style over time. That model is yours. It travels with you.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2651760" cy="1115568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DM Serif Display" pitchFamily="2" charset="0"/>
              </a:rPr>
              <a:t>🏦</a:t>
            </a:r>
            <a:endParaRPr lang="en-US" sz="1700" dirty="0">
              <a:latin typeface="DM Serif Display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API moat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7673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OAuth integrations with every major platform. Costly to build, maintain, and negotiate.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46120" y="3401568"/>
            <a:ext cx="2651760" cy="1115568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83280" y="34930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DM Serif Display" pitchFamily="2" charset="0"/>
              </a:rPr>
              <a:t>🎬</a:t>
            </a:r>
            <a:endParaRPr lang="en-US" sz="1700" dirty="0">
              <a:latin typeface="DM Serif Display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931920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Media intelligence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931920" y="37673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GIF, meme, and video suggestions learn what visual language lands per relationship. Unique data.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72200" y="3401568"/>
            <a:ext cx="2651760" cy="1115568"/>
          </a:xfrm>
          <a:prstGeom prst="rect">
            <a:avLst/>
          </a:prstGeom>
          <a:solidFill>
            <a:srgbClr val="1E180E"/>
          </a:solidFill>
          <a:ln w="12700">
            <a:solidFill>
              <a:srgbClr val="C8832A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360" y="349300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DM Serif Display" pitchFamily="2" charset="0"/>
              </a:rPr>
              <a:t>💸</a:t>
            </a:r>
            <a:endParaRPr lang="en-US" sz="1700" dirty="0">
              <a:latin typeface="DM Serif Display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0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Sent Gift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58000" y="376732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gifts embedded in messages via Stripe. Payments retention is the deepest form there is.</a:t>
            </a:r>
            <a:endParaRPr lang="en-US" sz="10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Working prototype.</a:t>
            </a:r>
            <a:endParaRPr lang="en-US" sz="3200" dirty="0">
              <a:latin typeface="DM Serif Display" pitchFamily="2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Ready to scale.</a:t>
            </a:r>
            <a:endParaRPr lang="en-US" sz="32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8138160" cy="36576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51560" y="2084832"/>
            <a:ext cx="256032" cy="256032"/>
          </a:xfrm>
          <a:prstGeom prst="ellipse">
            <a:avLst/>
          </a:prstGeom>
          <a:solidFill>
            <a:srgbClr val="C8832A"/>
          </a:solidFill>
          <a:ln w="6350">
            <a:solidFill>
              <a:srgbClr val="C8832A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410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Concept + brand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C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Tagline, identity, and product vision locked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79192" y="2084832"/>
            <a:ext cx="256032" cy="256032"/>
          </a:xfrm>
          <a:prstGeom prst="ellipse">
            <a:avLst/>
          </a:prstGeom>
          <a:solidFill>
            <a:srgbClr val="C8832A"/>
          </a:solidFill>
          <a:ln w="6350">
            <a:solidFill>
              <a:srgbClr val="C8832A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30552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30552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410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Working prototype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30552" y="3154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C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message generation live — 5 voices, 4 channels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306824" y="2084832"/>
            <a:ext cx="256032" cy="256032"/>
          </a:xfrm>
          <a:prstGeom prst="ellipse">
            <a:avLst/>
          </a:prstGeom>
          <a:solidFill>
            <a:srgbClr val="C5B8AC"/>
          </a:solidFill>
          <a:ln w="6350">
            <a:solidFill>
              <a:srgbClr val="C5B8AC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58184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2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58184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410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API integrations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58184" y="3154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C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Facebook, LinkedIn, Google Contacts OAuth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34456" y="2084832"/>
            <a:ext cx="256032" cy="256032"/>
          </a:xfrm>
          <a:prstGeom prst="ellipse">
            <a:avLst/>
          </a:prstGeom>
          <a:solidFill>
            <a:srgbClr val="C5B8AC"/>
          </a:solidFill>
          <a:ln w="6350">
            <a:solidFill>
              <a:srgbClr val="C5B8AC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85816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4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85816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410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Beta launch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85816" y="3154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C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 users, feedback loop, v2 voice model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562088" y="2084832"/>
            <a:ext cx="256032" cy="256032"/>
          </a:xfrm>
          <a:prstGeom prst="ellipse">
            <a:avLst/>
          </a:prstGeom>
          <a:solidFill>
            <a:srgbClr val="C5B8AC"/>
          </a:solidFill>
          <a:ln w="6350">
            <a:solidFill>
              <a:srgbClr val="C5B8AC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13448" y="2423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8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13448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410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Public launch</a:t>
            </a:r>
            <a:endParaRPr lang="en-US" sz="1200" dirty="0">
              <a:latin typeface="DM Serif Display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013448" y="31546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5C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+ freemium monetization live</a:t>
            </a:r>
            <a:endParaRPr lang="en-US" sz="1000" dirty="0">
              <a:latin typeface="DM Serif Display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solidFill>
            <a:srgbClr val="FFF4E0"/>
          </a:solidFill>
          <a:ln w="6350">
            <a:solidFill>
              <a:srgbClr val="EDE5DB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" y="41605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832A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✦  Prototype is live today. Generate a real personalized occasion message at the link in the appendix.</a:t>
            </a:r>
            <a:endParaRPr lang="en-US" sz="13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83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Raising $750K</a:t>
            </a:r>
            <a:endParaRPr lang="en-US" sz="4200" dirty="0">
              <a:latin typeface="DM Serif Display" pitchFamily="2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seed round.</a:t>
            </a:r>
            <a:endParaRPr lang="en-US" sz="4200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187452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35%</a:t>
            </a:r>
            <a:endParaRPr lang="en-US" sz="3800" dirty="0">
              <a:latin typeface="DM Serif Display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090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Engineering</a:t>
            </a:r>
            <a:endParaRPr lang="en-US" sz="1300" dirty="0">
              <a:latin typeface="DM Serif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493008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integrations, voice model, mobile app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06040" y="2240280"/>
            <a:ext cx="187452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0" y="23774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30%</a:t>
            </a:r>
            <a:endParaRPr lang="en-US" sz="3800" dirty="0">
              <a:latin typeface="DM Serif Display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0" y="3090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Growth</a:t>
            </a:r>
            <a:endParaRPr lang="en-US" sz="1300" dirty="0">
              <a:latin typeface="DM Serif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3493008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acquisition + influencer partnerships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187452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23774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20%</a:t>
            </a:r>
            <a:endParaRPr lang="en-US" sz="3800" dirty="0">
              <a:latin typeface="DM Serif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3090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Product</a:t>
            </a:r>
            <a:endParaRPr lang="en-US" sz="1300" dirty="0">
              <a:latin typeface="DM Serif Display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3493008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Design, UX research, beta program</a:t>
            </a:r>
            <a:endParaRPr lang="en-US" sz="1100" dirty="0">
              <a:latin typeface="DM Serif Display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12280" y="2240280"/>
            <a:ext cx="1874520" cy="2560320"/>
          </a:xfrm>
          <a:prstGeom prst="rect">
            <a:avLst/>
          </a:prstGeom>
          <a:solidFill>
            <a:srgbClr val="221C16"/>
          </a:solidFill>
          <a:ln w="6350">
            <a:solidFill>
              <a:srgbClr val="3A2F25"/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9440" y="23774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15%</a:t>
            </a:r>
            <a:endParaRPr lang="en-US" sz="3800" dirty="0">
              <a:latin typeface="DM Serif Display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49440" y="30906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en-US" sz="1300" dirty="0">
              <a:latin typeface="DM Serif Display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3493008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Legal, infrastructure, team</a:t>
            </a:r>
            <a:endParaRPr lang="en-US" sz="11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35040" y="274320"/>
            <a:ext cx="2926080" cy="292608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36208" y="475488"/>
            <a:ext cx="2523744" cy="2523744"/>
          </a:xfrm>
          <a:prstGeom prst="rect">
            <a:avLst/>
          </a:prstGeom>
          <a:solidFill>
            <a:srgbClr val="1A1410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52744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45352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37960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30568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23176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15784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08392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01000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93608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86216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878824" y="19202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52744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45352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37960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30568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23176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415784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08392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01000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93608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586216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878824" y="311810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52744" y="44805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52744" y="70408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52744" y="96012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52744" y="121615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52744" y="147218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952744" y="172821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952744" y="198424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52744" y="224028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952744" y="249631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52744" y="275234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878824" y="44805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878824" y="70408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878824" y="96012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878824" y="121615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878824" y="147218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878824" y="1728216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878824" y="1984248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878824" y="2240280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878824" y="2496312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878824" y="2752344"/>
            <a:ext cx="164592" cy="164592"/>
          </a:xfrm>
          <a:prstGeom prst="ellipse">
            <a:avLst/>
          </a:prstGeom>
          <a:solidFill>
            <a:srgbClr val="FAF7F4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72784" y="1325880"/>
            <a:ext cx="2450592" cy="0"/>
          </a:xfrm>
          <a:prstGeom prst="line">
            <a:avLst/>
          </a:prstGeom>
          <a:noFill/>
          <a:ln w="57150">
            <a:solidFill>
              <a:srgbClr val="C8832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272784" y="1572768"/>
            <a:ext cx="2450592" cy="0"/>
          </a:xfrm>
          <a:prstGeom prst="line">
            <a:avLst/>
          </a:prstGeom>
          <a:noFill/>
          <a:ln w="44450">
            <a:solidFill>
              <a:srgbClr val="C8832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272784" y="1819656"/>
            <a:ext cx="2450592" cy="0"/>
          </a:xfrm>
          <a:prstGeom prst="line">
            <a:avLst/>
          </a:prstGeom>
          <a:noFill/>
          <a:ln w="35560">
            <a:solidFill>
              <a:srgbClr val="C8832A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72784" y="2066544"/>
            <a:ext cx="2450592" cy="0"/>
          </a:xfrm>
          <a:prstGeom prst="line">
            <a:avLst/>
          </a:prstGeom>
          <a:noFill/>
          <a:ln w="22860">
            <a:solidFill>
              <a:srgbClr val="C8832A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272784" y="2313432"/>
            <a:ext cx="2450592" cy="0"/>
          </a:xfrm>
          <a:prstGeom prst="line">
            <a:avLst/>
          </a:prstGeom>
          <a:noFill/>
          <a:ln w="12700">
            <a:solidFill>
              <a:srgbClr val="C8832A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035040" y="274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i="1" dirty="0">
                <a:solidFill>
                  <a:srgbClr val="C8832A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US" sz="20000" dirty="0">
              <a:latin typeface="DM Serif Display" pitchFamily="2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solidFill>
            <a:srgbClr val="C8832A"/>
          </a:solidFill>
          <a:ln/>
        </p:spPr>
        <p:txBody>
          <a:bodyPr/>
          <a:lstStyle/>
          <a:p>
            <a:endParaRPr lang="en-US" dirty="0">
              <a:latin typeface="DM Serif Display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1A1410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en-US" sz="2600" dirty="0">
              <a:latin typeface="DM Serif Display" pitchFamily="2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69848" y="411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ent</a:t>
            </a:r>
            <a:endParaRPr lang="en-US" sz="2200" dirty="0">
              <a:latin typeface="DM Serif Display" pitchFamily="2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48640" y="1371600"/>
            <a:ext cx="5486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Relationships,</a:t>
            </a:r>
            <a:endParaRPr lang="en-US" sz="5200" dirty="0">
              <a:latin typeface="DM Serif Display" pitchFamily="2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remembered.</a:t>
            </a:r>
            <a:endParaRPr lang="en-US" sz="5200" dirty="0">
              <a:latin typeface="DM Serif Display" pitchFamily="2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48640" y="36576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i="1" dirty="0">
                <a:solidFill>
                  <a:srgbClr val="F5A84B"/>
                </a:solidFill>
                <a:latin typeface="DM Serif Display" pitchFamily="2" charset="0"/>
                <a:ea typeface="Calibri" panose="020F0502020204030204" pitchFamily="34" charset="0"/>
                <a:cs typeface="Calibri" panose="020F0502020204030204" pitchFamily="34" charset="0"/>
              </a:rPr>
              <a:t>Sent.</a:t>
            </a:r>
            <a:endParaRPr lang="en-US" sz="5200" dirty="0">
              <a:latin typeface="DM Serif Display" pitchFamily="2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3566160" y="35204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Relationships are built on remembrance.</a:t>
            </a:r>
            <a:endParaRPr lang="en-US" sz="1400" dirty="0">
              <a:latin typeface="DM Serif Display" pitchFamily="2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5B8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us to remember.</a:t>
            </a:r>
            <a:endParaRPr lang="en-US" sz="1400" dirty="0">
              <a:latin typeface="DM Serif Display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773</Words>
  <Application>Microsoft Office PowerPoint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DM Serif Display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 — Investor Pitch</dc:title>
  <dc:subject>PptxGenJS Presentation</dc:subject>
  <dc:creator>PptxGenJS</dc:creator>
  <cp:lastModifiedBy>Nate French</cp:lastModifiedBy>
  <cp:revision>1</cp:revision>
  <dcterms:created xsi:type="dcterms:W3CDTF">2026-03-24T14:57:38Z</dcterms:created>
  <dcterms:modified xsi:type="dcterms:W3CDTF">2026-03-24T17:04:19Z</dcterms:modified>
</cp:coreProperties>
</file>